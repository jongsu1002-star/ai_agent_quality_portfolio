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2331720"/>
            <a:ext cx="109728" cy="155448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19456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</a:rPr>
              <a:t>AI Agent 품질관리·운영 모니터링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32461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CBD5E1"/>
                </a:solidFill>
                <a:latin typeface="맑은 고딕"/>
              </a:rPr>
              <a:t>FastAPI 기반 품질테스트 자동화 + Prometheus·Grafana·k6 운영 모니터링 구축기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60350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맑은 고딕"/>
              </a:rPr>
              <a:t>발표 시간 10분 내외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FDBFE"/>
                </a:solidFill>
                <a:latin typeface="맑은 고딕"/>
              </a:rPr>
              <a:t>오늘 다룰 8가지 주제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21208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맑은 고딕"/>
              </a:rPr>
              <a:t>1. AI Agent와 운영 모니터링 개념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21208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64208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맑은 고딕"/>
              </a:rPr>
              <a:t>2. 품질지표와 로그 수집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521208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맑은 고딕"/>
              </a:rPr>
              <a:t>3. Prometheus 기초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606040"/>
            <a:ext cx="521208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807208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맑은 고딕"/>
              </a:rPr>
              <a:t>4. Grafana 대시보드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40"/>
            <a:ext cx="521208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50208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맑은 고딕"/>
              </a:rPr>
              <a:t>5. 장애 시나리오 실습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749040"/>
            <a:ext cx="521208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950208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맑은 고딕"/>
              </a:rPr>
              <a:t>6. k6 성능테스트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92040"/>
            <a:ext cx="521208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93208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맑은 고딕"/>
              </a:rPr>
              <a:t>7. 품질 개선 활동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892040"/>
            <a:ext cx="521208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5093208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맑은 고딕"/>
              </a:rPr>
              <a:t>8. 최종 보고 및 대시보드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1. AI Agent와 운영 모니터링 개념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FDBFE"/>
                </a:solidFill>
                <a:latin typeface="맑은 고딕"/>
              </a:rPr>
              <a:t>Agent 구조 이해 · FastAPI 기반 실행 · 헬스체크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맑은 고딕"/>
              </a:rPr>
              <a:t>▸ FastAPI 기반 단일 서버로 QA 파이프라인 + 운영 대시보드를 함께 제공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맑은 고딕"/>
              </a:rPr>
              <a:t>    – 설정 → 실행 → 대시보드 → 모니터링 → 모니터링 애드온, 5개 탭 구조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맑은 고딕"/>
              </a:rPr>
              <a:t>▸ GoldenCase(정답 데이터셋) → PipelineOrchestrator → RunReport 흐름으로 채점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맑은 고딕"/>
              </a:rPr>
              <a:t>    – rag / llm_quality / rubric / regression / functional / dual_compare 6개 평가 기법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맑은 고딕"/>
              </a:rPr>
              <a:t>▸ /health 엔드포인트로 서비스 자체 상태를 실시간 확인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맑은 고딕"/>
              </a:rPr>
              <a:t>    – reports 디렉터리 쓰기 가능 여부, 최신 리포트 존재 여부, OpenAI 키 설정 여부 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371600"/>
            <a:ext cx="3657600" cy="4572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6002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D4ED8"/>
                </a:solidFill>
                <a:latin typeface="맑은 고딕"/>
              </a:rPr>
              <a:t>핵심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01168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맑은 고딕"/>
              </a:rPr>
              <a:t>▸ 기존 서비스는 절대 수정하지 않고 애드온으로 확장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맑은 고딕"/>
              </a:rPr>
              <a:t>▸ 모든 신규 기능은 feature flag로 켜고 끌 수 있음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맑은 고딕"/>
              </a:rPr>
              <a:t>▸ 실제 서버·브라우저로 직접 검증(단위테스트만으로 끝내지 않음)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2. 품질지표와 로그 수집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FDBFE"/>
                </a:solidFill>
                <a:latin typeface="맑은 고딕"/>
              </a:rPr>
              <a:t>응답시간·성공률·오류율 측정 · 로그 기반 장애 원인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맑은 고딕"/>
              </a:rPr>
              <a:t>▸ QA 파이프라인 품질지표: 카테고리별 통과율, 회귀 발생 건수, 룰-LLM 판정 불일치 건수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맑은 고딕"/>
              </a:rPr>
              <a:t>▸ 자체 운영 지표(MetricsCollector): 총 요청수 · 5xx 에러율 · 평균/p95 응답시간을 실시간 집계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맑은 고딕"/>
              </a:rPr>
              <a:t>▸ 장애 원인 추적: 결함보고서.md · 테스트_결과.md가 매 실행마다 자동 재생성됨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57600"/>
            <a:ext cx="10881360" cy="24688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D4ED8"/>
                </a:solidFill>
                <a:latin typeface="맑은 고딕"/>
              </a:rPr>
              <a:t>이번 프로젝트에서 실제 수집한 지표 예시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맑은 고딕"/>
              </a:rPr>
              <a:t>• 가동시간 4분대 · 총 요청 561건 · 에러율 0% · 평균 응답 2.8ms · p95 12.8ms (서버 운영 지표 카드)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맑은 고딕"/>
              </a:rPr>
              <a:t>• k6 최근 실행: 실패율 0~100% (대상 상태에 따라 실측), p95 12~55ms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3. Prometheus 기초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FDBFE"/>
                </a:solidFill>
                <a:latin typeface="맑은 고딕"/>
              </a:rPr>
              <a:t>/metrics 노출 · Counter/Gauge/Histogram 지표 수집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766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맑은 고딕"/>
              </a:rPr>
              <a:t>▸ /metrics-addon 엔드포인트로 Prometheus 텍스트 노출 포맷(text/plain) 제공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맑은 고딕"/>
              </a:rPr>
              <a:t>    – qa_platform_total_requests (Counter), qa_platform_error_rate (Gauge) 등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맑은 고딕"/>
              </a:rPr>
              <a:t>    – k6 최신 실행 지표(k6_failed_rate, k6_p95_ms 등)도 함께 노출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맑은 고딕"/>
              </a:rPr>
              <a:t>▸ Prometheus가 15초 주기로 스크레이프 → PromQL로 실시간 조회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맑은 고딕"/>
              </a:rPr>
              <a:t>▸ 임베딩 이슈 발견·해결: Prometheus v3 UI를 iframe으로 넣으면 쿼리 자동실행이 안 되는 버그 발견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맑은 고딕"/>
              </a:rPr>
              <a:t>    – → iframe 대신 API를 직접 fetch해서 자체 차트로 렌더링하도록 교체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371600"/>
            <a:ext cx="3840480" cy="45720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60020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8BDF8"/>
                </a:solidFill>
                <a:latin typeface="맑은 고딕"/>
              </a:rPr>
              <a:t>docker-compose.yml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057400"/>
            <a:ext cx="33832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2E8F0"/>
                </a:solidFill>
                <a:latin typeface="Consolas"/>
              </a:rPr>
              <a:t>prometheus: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E2E8F0"/>
                </a:solidFill>
                <a:latin typeface="Consolas"/>
              </a:rPr>
              <a:t>  image: prom/prometheus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E2E8F0"/>
                </a:solidFill>
                <a:latin typeface="Consolas"/>
              </a:rPr>
              <a:t>  command: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E2E8F0"/>
                </a:solidFill>
                <a:latin typeface="Consolas"/>
              </a:rPr>
              <a:t>    - --web.cors.origin=.*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E2E8F0"/>
                </a:solidFill>
                <a:latin typeface="Consolas"/>
              </a:rPr>
              <a:t>CORS 허용 → 브라우저에서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E2E8F0"/>
                </a:solidFill>
                <a:latin typeface="Consolas"/>
              </a:rPr>
              <a:t>Prometheus API를 직접 호출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4. Grafana 대시보드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FDBFE"/>
                </a:solidFill>
                <a:latin typeface="맑은 고딕"/>
              </a:rPr>
              <a:t>패널 구성 · p95 응답시간·오류율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맑은 고딕"/>
              </a:rPr>
              <a:t>▸ Docker Compose로 Prometheus 데이터소스 + 대시보드를 자동 프로비저닝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맑은 고딕"/>
              </a:rPr>
              <a:t>▸ 익명 Viewer 접속 허용 → 로그인 없이 바로 확인 가능(내부 도구 특성 반영)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맑은 고딕"/>
              </a:rPr>
              <a:t>▸ /d-solo/ 라우트로 패널 6개를 모니터링 애드온 페이지에 직접 임베딩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57600"/>
            <a:ext cx="3383280" cy="10515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776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Total Requests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657600"/>
            <a:ext cx="3383280" cy="10515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39776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Error Rate (5xx)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657600"/>
            <a:ext cx="3383280" cy="10515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39776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Avg/p95 응답시간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37760"/>
            <a:ext cx="3383280" cy="10515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2578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k6 실패율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937760"/>
            <a:ext cx="3383280" cy="10515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52578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k6 p95(ms)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4937760"/>
            <a:ext cx="3383280" cy="10515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52578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k6 Threshold 통과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5. 장애 시나리오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FDBFE"/>
                </a:solidFill>
                <a:latin typeface="맑은 고딕"/>
              </a:rPr>
              <a:t>타임아웃·500 오류·응답 지연 재현과 결함보고서 작성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맑은 고딕"/>
              </a:rPr>
              <a:t>▸ functional 기법: 빈 질문 / 공백 / 과대 입력 / 특수문자 4종 합성 프로브로 커넥터 계약 검증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맑은 고딕"/>
              </a:rPr>
              <a:t>▸ 실제 장애 재현 사례: 존재하지 않는 API 엔드포인트 호출 → api_call_failed 자동 기록, 전체는 정상 종료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맑은 고딕"/>
              </a:rPr>
              <a:t>▸ k6 대상 서비스가 다운된 상태를 그대로 포착 → 실패율 100%로 결과보고서에 정확히 반영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94760"/>
            <a:ext cx="10881360" cy="2286000"/>
          </a:xfrm>
          <a:prstGeom prst="roundRect">
            <a:avLst/>
          </a:prstGeom>
          <a:solidFill>
            <a:srgbClr val="FEF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맑은 고딕"/>
              </a:rPr>
              <a:t>이번 세션에서 실제 발견하고 즉시 수정한 결함 (10건 중 일부)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맑은 고딕"/>
              </a:rPr>
              <a:t>• k6가 대상 URL에 /health를 고정으로 붙여 다른 서비스 테스트 시 전부 실패 → 경로 입력 필드 추가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맑은 고딕"/>
              </a:rPr>
              <a:t>• Excel 빈 셀이 NaN으로 남아 미리보기 API 500 에러 → 값 정규화로 해결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맑은 고딕"/>
              </a:rPr>
              <a:t>• Docker 컨테이너 안에서 Windows 경로(백슬래시)를 못 읽어 데이터셋이 사라짐 → 경로 정규화로 해결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6. k6 성능테스트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FDBFE"/>
                </a:solidFill>
                <a:latin typeface="맑은 고딕"/>
              </a:rPr>
              <a:t>스크립트 기반 부하테스트 · threshold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858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맑은 고딕"/>
              </a:rPr>
              <a:t>▸ 웹 화면에서 바로 실행 - 대상 URL / 경로 / 동시사용자수 / 지속시간 입력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맑은 고딕"/>
              </a:rPr>
              <a:t>▸ threshold 기반 자동 판정: http_req_duration p(95)&lt;1000ms, http_req_failed rate&lt;0.05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맑은 고딕"/>
              </a:rPr>
              <a:t>▸ SSRF 방지: localhost·사내망 IP만 허용, 외부 인터넷 주소는 400 거부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맑은 고딕"/>
              </a:rPr>
              <a:t>▸ 신규 기능 - 발화문 부하테스트: 체크 시 GET 상태확인 대신 실제 챗봇 API에 POST로 질문을 보내 부하테스트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맑은 고딕"/>
              </a:rPr>
              <a:t>    – {"요청필드명": "발화문"} 형태로 전송, 요청 필드명도 커스터마이즈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71600"/>
            <a:ext cx="3749039" cy="4572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6002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D4ED8"/>
                </a:solidFill>
                <a:latin typeface="맑은 고딕"/>
              </a:rPr>
              <a:t>실행 결과 예시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574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맑은 고딕"/>
              </a:rPr>
              <a:t>• 동시사용자수 5, 지속시간 10s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맑은 고딕"/>
              </a:rPr>
              <a:t>• 총 요청 50건, 실패율 0%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맑은 고딕"/>
              </a:rPr>
              <a:t>• 평균 응답 5.4ms, p95 13.1ms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맑은 고딕"/>
              </a:rPr>
              <a:t>• 판정: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7. 품질 개선 활동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FDBFE"/>
                </a:solidFill>
                <a:latin typeface="맑은 고딕"/>
              </a:rPr>
              <a:t>병목 원인 분석 · 개선 전후 비교 · 재테스트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맑은 고딕"/>
              </a:rPr>
              <a:t>▸ 데이터셋(정답 기준값)과 테스트 케이스(발화문)를 분리해 재사용성과 유연성 개선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맑은 고딕"/>
              </a:rPr>
              <a:t>▸ '데이터셋 사용 안 함' 모드 추가: 정답 없이도 LLM 절대평가로 신규 챗봇을 바로 점검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00400"/>
            <a:ext cx="10881360" cy="288036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D4ED8"/>
                </a:solidFill>
                <a:latin typeface="맑은 고딕"/>
              </a:rPr>
              <a:t>사용자·통합 테스트 61건 실행 결과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931920"/>
            <a:ext cx="3291840" cy="1965960"/>
          </a:xfrm>
          <a:prstGeom prst="round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66534"/>
                </a:solidFill>
                <a:latin typeface="맑은 고딕"/>
              </a:rPr>
              <a:t>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166534"/>
                </a:solidFill>
                <a:latin typeface="맑은 고딕"/>
              </a:rPr>
              <a:t>59건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931920"/>
            <a:ext cx="3291840" cy="1965960"/>
          </a:xfrm>
          <a:prstGeom prst="roundRect">
            <a:avLst/>
          </a:prstGeom>
          <a:solidFill>
            <a:srgbClr val="FEF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416052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92400E"/>
                </a:solidFill>
                <a:latin typeface="맑은 고딕"/>
              </a:rPr>
              <a:t>Blocked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66344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92400E"/>
                </a:solidFill>
                <a:latin typeface="맑은 고딕"/>
              </a:rPr>
              <a:t>2건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931920"/>
            <a:ext cx="3291840" cy="196596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16052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475569"/>
                </a:solidFill>
                <a:latin typeface="맑은 고딕"/>
              </a:rPr>
              <a:t>Fail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66344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475569"/>
                </a:solidFill>
                <a:latin typeface="맑은 고딕"/>
              </a:rPr>
              <a:t>0건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</a:rPr>
              <a:t>8. 최종 보고 및 대시보드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FDBFE"/>
                </a:solidFill>
                <a:latin typeface="맑은 고딕"/>
              </a:rPr>
              <a:t>테스트결과보고서와 대시보드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맑은 고딕"/>
              </a:rPr>
              <a:t>▸ 테스트_시나리오.xlsx: 61건 시나리오별 결과·근거를 Pass/Fail 색상과 함께 기록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맑은 고딕"/>
              </a:rPr>
              <a:t>▸ 테스트결과보고서.md: 대시보드 탭에서 '테스트결과보고서' 버튼으로 바로 열람 가능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맑은 고딕"/>
              </a:rPr>
              <a:t>▸ AI Agent Quality Platform 전체를 docker compose up 한 줄로 운영 - Prometheus/Grafana/k6까지 포함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49039"/>
            <a:ext cx="10881360" cy="237744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38BDF8"/>
                </a:solidFill>
                <a:latin typeface="Consolas"/>
              </a:rPr>
              <a:t>docker compose up -d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E2E8F0"/>
                </a:solidFill>
                <a:latin typeface="맑은 고딕"/>
              </a:rPr>
              <a:t>• qa-platform(FastAPI 앱, k6 포함) + Prometheus + Grafana 3개 컨테이너 한 번에 기동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E2E8F0"/>
                </a:solidFill>
                <a:latin typeface="맑은 고딕"/>
              </a:rPr>
              <a:t>• reports/ 바인드 마운트로 데이터셋·문서·이력 유지, data/ 네임드 볼륨으로 모니터링 DB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38BDF8"/>
                </a:solidFill>
                <a:latin typeface="맑은 고딕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